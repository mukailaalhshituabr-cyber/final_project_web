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83" autoAdjust="0"/>
    <p:restoredTop sz="94660"/>
  </p:normalViewPr>
  <p:slideViewPr>
    <p:cSldViewPr snapToGrid="0">
      <p:cViewPr varScale="1">
        <p:scale>
          <a:sx n="59" d="100"/>
          <a:sy n="59" d="100"/>
        </p:scale>
        <p:origin x="84" y="3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9523B-7879-413D-B974-4EA8BAD8717A}"/>
              </a:ext>
            </a:extLst>
          </p:cNvPr>
          <p:cNvSpPr>
            <a:spLocks noGrp="1"/>
          </p:cNvSpPr>
          <p:nvPr>
            <p:ph type="ctrTitle"/>
          </p:nvPr>
        </p:nvSpPr>
        <p:spPr>
          <a:xfrm>
            <a:off x="1524000" y="1122363"/>
            <a:ext cx="9144000" cy="2387600"/>
          </a:xfrm>
        </p:spPr>
        <p:txBody>
          <a:bodyPr anchor="b"/>
          <a:lstStyle>
            <a:lvl1pPr algn="ctr">
              <a:defRPr sz="60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8425677C-C4F4-4003-8081-2CA323FE87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8EBDFB6-B844-410B-871F-A9547EC777E1}"/>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5" name="Footer Placeholder 4">
            <a:extLst>
              <a:ext uri="{FF2B5EF4-FFF2-40B4-BE49-F238E27FC236}">
                <a16:creationId xmlns:a16="http://schemas.microsoft.com/office/drawing/2014/main" id="{F125EE92-8782-4771-BBA2-385EC3B1CF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FC773E-0593-4E3E-A921-36876FFE5ABB}"/>
              </a:ext>
            </a:extLst>
          </p:cNvPr>
          <p:cNvSpPr>
            <a:spLocks noGrp="1"/>
          </p:cNvSpPr>
          <p:nvPr>
            <p:ph type="sldNum" sz="quarter" idx="12"/>
          </p:nvPr>
        </p:nvSpPr>
        <p:spPr/>
        <p:txBody>
          <a:bodyPr/>
          <a:lstStyle/>
          <a:p>
            <a:fld id="{95C122ED-C147-4045-89CD-7A79E332317A}" type="slidenum">
              <a:rPr lang="en-US" smtClean="0"/>
              <a:t>‹#›</a:t>
            </a:fld>
            <a:endParaRPr lang="en-US"/>
          </a:p>
        </p:txBody>
      </p:sp>
      <p:pic>
        <p:nvPicPr>
          <p:cNvPr id="8" name="Picture 7" descr="A picture containing food&#10;&#10;Description automatically generated">
            <a:extLst>
              <a:ext uri="{FF2B5EF4-FFF2-40B4-BE49-F238E27FC236}">
                <a16:creationId xmlns:a16="http://schemas.microsoft.com/office/drawing/2014/main" id="{C9C71CC2-94AB-45BF-B83B-6D0466401FA9}"/>
              </a:ext>
            </a:extLst>
          </p:cNvPr>
          <p:cNvPicPr>
            <a:picLocks noChangeAspect="1"/>
          </p:cNvPicPr>
          <p:nvPr userDrawn="1"/>
        </p:nvPicPr>
        <p:blipFill>
          <a:blip r:embed="rId2">
            <a:alphaModFix amt="65000"/>
            <a:extLst>
              <a:ext uri="{28A0092B-C50C-407E-A947-70E740481C1C}">
                <a14:useLocalDpi xmlns:a14="http://schemas.microsoft.com/office/drawing/2010/main" val="0"/>
              </a:ext>
            </a:extLst>
          </a:blip>
          <a:stretch>
            <a:fillRect/>
          </a:stretch>
        </p:blipFill>
        <p:spPr>
          <a:xfrm>
            <a:off x="4927011" y="4160648"/>
            <a:ext cx="2337977" cy="2094067"/>
          </a:xfrm>
          <a:prstGeom prst="rect">
            <a:avLst/>
          </a:prstGeom>
        </p:spPr>
      </p:pic>
    </p:spTree>
    <p:extLst>
      <p:ext uri="{BB962C8B-B14F-4D97-AF65-F5344CB8AC3E}">
        <p14:creationId xmlns:p14="http://schemas.microsoft.com/office/powerpoint/2010/main" val="2612379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7FE9E-2EAE-47F7-9BCF-8CE6618938C9}"/>
              </a:ext>
            </a:extLst>
          </p:cNvPr>
          <p:cNvSpPr>
            <a:spLocks noGrp="1"/>
          </p:cNvSpPr>
          <p:nvPr>
            <p:ph type="title"/>
          </p:nvPr>
        </p:nvSpPr>
        <p:spPr/>
        <p:txBody>
          <a:bodyPr/>
          <a:lstStyle>
            <a:lvl1pPr>
              <a:defRPr>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B0DA83C7-1BAA-4632-825D-9DCD8B8E62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7E41AA-741F-4EC6-A497-D1DEB1011FDA}"/>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5" name="Footer Placeholder 4">
            <a:extLst>
              <a:ext uri="{FF2B5EF4-FFF2-40B4-BE49-F238E27FC236}">
                <a16:creationId xmlns:a16="http://schemas.microsoft.com/office/drawing/2014/main" id="{5366A5DD-EB46-4E38-9B93-2ED8D93DF6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5B6A07-A0C0-4565-90CD-83F9F70E5348}"/>
              </a:ext>
            </a:extLst>
          </p:cNvPr>
          <p:cNvSpPr>
            <a:spLocks noGrp="1"/>
          </p:cNvSpPr>
          <p:nvPr>
            <p:ph type="sldNum" sz="quarter" idx="12"/>
          </p:nvPr>
        </p:nvSpPr>
        <p:spPr/>
        <p:txBody>
          <a:bodyPr/>
          <a:lstStyle/>
          <a:p>
            <a:fld id="{95C122ED-C147-4045-89CD-7A79E332317A}" type="slidenum">
              <a:rPr lang="en-US" smtClean="0"/>
              <a:t>‹#›</a:t>
            </a:fld>
            <a:endParaRPr lang="en-US"/>
          </a:p>
        </p:txBody>
      </p:sp>
      <p:pic>
        <p:nvPicPr>
          <p:cNvPr id="8" name="Picture 7" descr="A picture containing food&#10;&#10;Description automatically generated">
            <a:extLst>
              <a:ext uri="{FF2B5EF4-FFF2-40B4-BE49-F238E27FC236}">
                <a16:creationId xmlns:a16="http://schemas.microsoft.com/office/drawing/2014/main" id="{C30AFC61-666A-4D08-AE3C-1B79355EEE5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300905" y="6176962"/>
            <a:ext cx="760362" cy="681037"/>
          </a:xfrm>
          <a:prstGeom prst="rect">
            <a:avLst/>
          </a:prstGeom>
        </p:spPr>
      </p:pic>
    </p:spTree>
    <p:extLst>
      <p:ext uri="{BB962C8B-B14F-4D97-AF65-F5344CB8AC3E}">
        <p14:creationId xmlns:p14="http://schemas.microsoft.com/office/powerpoint/2010/main" val="40957021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21F54-45A7-436C-80E0-91459F5EB1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9856C5C-9625-46C6-8DA5-CF58A2EE5F1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29031E8-BC8F-4753-ADB3-A0C48167311C}"/>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5" name="Footer Placeholder 4">
            <a:extLst>
              <a:ext uri="{FF2B5EF4-FFF2-40B4-BE49-F238E27FC236}">
                <a16:creationId xmlns:a16="http://schemas.microsoft.com/office/drawing/2014/main" id="{2A239F8A-1350-48EF-BD37-666B5D1EF5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09524A-BFD0-4E76-8617-E50C51C351AA}"/>
              </a:ext>
            </a:extLst>
          </p:cNvPr>
          <p:cNvSpPr>
            <a:spLocks noGrp="1"/>
          </p:cNvSpPr>
          <p:nvPr>
            <p:ph type="sldNum" sz="quarter" idx="12"/>
          </p:nvPr>
        </p:nvSpPr>
        <p:spPr/>
        <p:txBody>
          <a:bodyPr/>
          <a:lstStyle/>
          <a:p>
            <a:fld id="{95C122ED-C147-4045-89CD-7A79E332317A}" type="slidenum">
              <a:rPr lang="en-US" smtClean="0"/>
              <a:t>‹#›</a:t>
            </a:fld>
            <a:endParaRPr lang="en-US"/>
          </a:p>
        </p:txBody>
      </p:sp>
    </p:spTree>
    <p:extLst>
      <p:ext uri="{BB962C8B-B14F-4D97-AF65-F5344CB8AC3E}">
        <p14:creationId xmlns:p14="http://schemas.microsoft.com/office/powerpoint/2010/main" val="1793456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2AE11-2AFB-47A4-890C-4991DBBD22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C0517F6-26BF-477B-80F4-8E1AF66459F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C706272-9F06-4612-8B6C-5BF50CEC5FE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541C4EC-9929-4DCE-8A0D-128E9BE0D96F}"/>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6" name="Footer Placeholder 5">
            <a:extLst>
              <a:ext uri="{FF2B5EF4-FFF2-40B4-BE49-F238E27FC236}">
                <a16:creationId xmlns:a16="http://schemas.microsoft.com/office/drawing/2014/main" id="{1CEDA14C-6B80-472E-AE8A-5D71B925C6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C770449-5253-4B20-A1CC-AC3677333F40}"/>
              </a:ext>
            </a:extLst>
          </p:cNvPr>
          <p:cNvSpPr>
            <a:spLocks noGrp="1"/>
          </p:cNvSpPr>
          <p:nvPr>
            <p:ph type="sldNum" sz="quarter" idx="12"/>
          </p:nvPr>
        </p:nvSpPr>
        <p:spPr/>
        <p:txBody>
          <a:bodyPr/>
          <a:lstStyle/>
          <a:p>
            <a:fld id="{95C122ED-C147-4045-89CD-7A79E332317A}" type="slidenum">
              <a:rPr lang="en-US" smtClean="0"/>
              <a:t>‹#›</a:t>
            </a:fld>
            <a:endParaRPr lang="en-US"/>
          </a:p>
        </p:txBody>
      </p:sp>
    </p:spTree>
    <p:extLst>
      <p:ext uri="{BB962C8B-B14F-4D97-AF65-F5344CB8AC3E}">
        <p14:creationId xmlns:p14="http://schemas.microsoft.com/office/powerpoint/2010/main" val="10598885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D58E8-F72B-4C5B-B31E-C39070112F9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6EEA8A5-4B13-4A06-872D-F1A3232627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95C7779-F8D2-4F64-8095-FDFC56CDB06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313D80E-A482-4598-B0B0-6FEE61ED80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F345DEA-EBE2-463A-92B3-1568092887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E32383A-BEA2-439D-9016-2DE5062144BB}"/>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8" name="Footer Placeholder 7">
            <a:extLst>
              <a:ext uri="{FF2B5EF4-FFF2-40B4-BE49-F238E27FC236}">
                <a16:creationId xmlns:a16="http://schemas.microsoft.com/office/drawing/2014/main" id="{00DF060A-F869-4CFC-BEC9-436E45FDCE9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F742A3-A4B8-4F34-A226-2F317C64C610}"/>
              </a:ext>
            </a:extLst>
          </p:cNvPr>
          <p:cNvSpPr>
            <a:spLocks noGrp="1"/>
          </p:cNvSpPr>
          <p:nvPr>
            <p:ph type="sldNum" sz="quarter" idx="12"/>
          </p:nvPr>
        </p:nvSpPr>
        <p:spPr/>
        <p:txBody>
          <a:bodyPr/>
          <a:lstStyle/>
          <a:p>
            <a:fld id="{95C122ED-C147-4045-89CD-7A79E332317A}" type="slidenum">
              <a:rPr lang="en-US" smtClean="0"/>
              <a:t>‹#›</a:t>
            </a:fld>
            <a:endParaRPr lang="en-US"/>
          </a:p>
        </p:txBody>
      </p:sp>
    </p:spTree>
    <p:extLst>
      <p:ext uri="{BB962C8B-B14F-4D97-AF65-F5344CB8AC3E}">
        <p14:creationId xmlns:p14="http://schemas.microsoft.com/office/powerpoint/2010/main" val="17423121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B7E50-68E4-4AEB-AD2D-D5ED555A311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AB69AFB-C8BF-4C66-A4EA-4147AED45409}"/>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4" name="Footer Placeholder 3">
            <a:extLst>
              <a:ext uri="{FF2B5EF4-FFF2-40B4-BE49-F238E27FC236}">
                <a16:creationId xmlns:a16="http://schemas.microsoft.com/office/drawing/2014/main" id="{5C105508-0742-43E9-BA29-7E405D3D41B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F3C142E-3D1A-427B-BA6B-7A453D4ED1FB}"/>
              </a:ext>
            </a:extLst>
          </p:cNvPr>
          <p:cNvSpPr>
            <a:spLocks noGrp="1"/>
          </p:cNvSpPr>
          <p:nvPr>
            <p:ph type="sldNum" sz="quarter" idx="12"/>
          </p:nvPr>
        </p:nvSpPr>
        <p:spPr/>
        <p:txBody>
          <a:bodyPr/>
          <a:lstStyle/>
          <a:p>
            <a:fld id="{95C122ED-C147-4045-89CD-7A79E332317A}" type="slidenum">
              <a:rPr lang="en-US" smtClean="0"/>
              <a:t>‹#›</a:t>
            </a:fld>
            <a:endParaRPr lang="en-US"/>
          </a:p>
        </p:txBody>
      </p:sp>
    </p:spTree>
    <p:extLst>
      <p:ext uri="{BB962C8B-B14F-4D97-AF65-F5344CB8AC3E}">
        <p14:creationId xmlns:p14="http://schemas.microsoft.com/office/powerpoint/2010/main" val="2716917065"/>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6004DB-86FF-4B67-B3C9-DC35E0ECD4E4}"/>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3" name="Footer Placeholder 2">
            <a:extLst>
              <a:ext uri="{FF2B5EF4-FFF2-40B4-BE49-F238E27FC236}">
                <a16:creationId xmlns:a16="http://schemas.microsoft.com/office/drawing/2014/main" id="{D86352AE-C1A3-4B2F-8F0B-8EABFF9C552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106BA80-BCAF-48E5-8D07-8A059E560390}"/>
              </a:ext>
            </a:extLst>
          </p:cNvPr>
          <p:cNvSpPr>
            <a:spLocks noGrp="1"/>
          </p:cNvSpPr>
          <p:nvPr>
            <p:ph type="sldNum" sz="quarter" idx="12"/>
          </p:nvPr>
        </p:nvSpPr>
        <p:spPr/>
        <p:txBody>
          <a:bodyPr/>
          <a:lstStyle/>
          <a:p>
            <a:fld id="{95C122ED-C147-4045-89CD-7A79E332317A}" type="slidenum">
              <a:rPr lang="en-US" smtClean="0"/>
              <a:t>‹#›</a:t>
            </a:fld>
            <a:endParaRPr lang="en-US"/>
          </a:p>
        </p:txBody>
      </p:sp>
    </p:spTree>
    <p:extLst>
      <p:ext uri="{BB962C8B-B14F-4D97-AF65-F5344CB8AC3E}">
        <p14:creationId xmlns:p14="http://schemas.microsoft.com/office/powerpoint/2010/main" val="35164065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7D035-D8A0-4FC2-8F79-526FBF59B4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7F7B67-0FB4-4620-BBDF-658857E7B5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D8C51-DF6F-46A4-9232-C95714472E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4AC53C-DB51-4743-9D99-B8CD2B2524AF}"/>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6" name="Footer Placeholder 5">
            <a:extLst>
              <a:ext uri="{FF2B5EF4-FFF2-40B4-BE49-F238E27FC236}">
                <a16:creationId xmlns:a16="http://schemas.microsoft.com/office/drawing/2014/main" id="{864DBC3D-49AC-4011-B820-F3F7EA5185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9B0DDC-539E-4D00-84DA-89041EC64255}"/>
              </a:ext>
            </a:extLst>
          </p:cNvPr>
          <p:cNvSpPr>
            <a:spLocks noGrp="1"/>
          </p:cNvSpPr>
          <p:nvPr>
            <p:ph type="sldNum" sz="quarter" idx="12"/>
          </p:nvPr>
        </p:nvSpPr>
        <p:spPr/>
        <p:txBody>
          <a:bodyPr/>
          <a:lstStyle/>
          <a:p>
            <a:fld id="{95C122ED-C147-4045-89CD-7A79E332317A}" type="slidenum">
              <a:rPr lang="en-US" smtClean="0"/>
              <a:t>‹#›</a:t>
            </a:fld>
            <a:endParaRPr lang="en-US"/>
          </a:p>
        </p:txBody>
      </p:sp>
    </p:spTree>
    <p:extLst>
      <p:ext uri="{BB962C8B-B14F-4D97-AF65-F5344CB8AC3E}">
        <p14:creationId xmlns:p14="http://schemas.microsoft.com/office/powerpoint/2010/main" val="344479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DBBC2-B05A-46ED-A241-BA9E3E8802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B6BAD30-E81E-48D0-B564-9BBAA44091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80F4405-7CFA-4985-B5B7-6189705A0A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DC5395-E644-4646-8327-ED7327EE59E7}"/>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6" name="Footer Placeholder 5">
            <a:extLst>
              <a:ext uri="{FF2B5EF4-FFF2-40B4-BE49-F238E27FC236}">
                <a16:creationId xmlns:a16="http://schemas.microsoft.com/office/drawing/2014/main" id="{870660FA-4807-411B-BA30-E201D82861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0283C1-EF9F-4823-A56C-8799FE4DC975}"/>
              </a:ext>
            </a:extLst>
          </p:cNvPr>
          <p:cNvSpPr>
            <a:spLocks noGrp="1"/>
          </p:cNvSpPr>
          <p:nvPr>
            <p:ph type="sldNum" sz="quarter" idx="12"/>
          </p:nvPr>
        </p:nvSpPr>
        <p:spPr/>
        <p:txBody>
          <a:bodyPr/>
          <a:lstStyle/>
          <a:p>
            <a:fld id="{95C122ED-C147-4045-89CD-7A79E332317A}" type="slidenum">
              <a:rPr lang="en-US" smtClean="0"/>
              <a:t>‹#›</a:t>
            </a:fld>
            <a:endParaRPr lang="en-US"/>
          </a:p>
        </p:txBody>
      </p:sp>
    </p:spTree>
    <p:extLst>
      <p:ext uri="{BB962C8B-B14F-4D97-AF65-F5344CB8AC3E}">
        <p14:creationId xmlns:p14="http://schemas.microsoft.com/office/powerpoint/2010/main" val="19847096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D5838-557A-4543-B7AE-4E7E629898C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A3BF8E1-259C-46CA-B233-0F947B7C7B7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ADB938-4651-49A6-AD85-87C5B7F2D9FA}"/>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5" name="Footer Placeholder 4">
            <a:extLst>
              <a:ext uri="{FF2B5EF4-FFF2-40B4-BE49-F238E27FC236}">
                <a16:creationId xmlns:a16="http://schemas.microsoft.com/office/drawing/2014/main" id="{A04DE878-AAF8-481F-9EB6-7B3F33BB36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72BD8B-7F3E-4F5D-A953-764469667066}"/>
              </a:ext>
            </a:extLst>
          </p:cNvPr>
          <p:cNvSpPr>
            <a:spLocks noGrp="1"/>
          </p:cNvSpPr>
          <p:nvPr>
            <p:ph type="sldNum" sz="quarter" idx="12"/>
          </p:nvPr>
        </p:nvSpPr>
        <p:spPr/>
        <p:txBody>
          <a:bodyPr/>
          <a:lstStyle/>
          <a:p>
            <a:fld id="{95C122ED-C147-4045-89CD-7A79E332317A}" type="slidenum">
              <a:rPr lang="en-US" smtClean="0"/>
              <a:t>‹#›</a:t>
            </a:fld>
            <a:endParaRPr lang="en-US"/>
          </a:p>
        </p:txBody>
      </p:sp>
    </p:spTree>
    <p:extLst>
      <p:ext uri="{BB962C8B-B14F-4D97-AF65-F5344CB8AC3E}">
        <p14:creationId xmlns:p14="http://schemas.microsoft.com/office/powerpoint/2010/main" val="22500290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EDDCDF4-4D7A-4375-A309-354D24F5A73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9573EB7-28A0-4361-9CDB-35C28ADE8A6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1F066A-E6EE-4F7B-8FC5-BE9B2CAB186F}"/>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5" name="Footer Placeholder 4">
            <a:extLst>
              <a:ext uri="{FF2B5EF4-FFF2-40B4-BE49-F238E27FC236}">
                <a16:creationId xmlns:a16="http://schemas.microsoft.com/office/drawing/2014/main" id="{E8B6381A-C118-4E62-BF37-EA0EBD6269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CEB07-AD06-45B6-9855-C8B2A45EE0A0}"/>
              </a:ext>
            </a:extLst>
          </p:cNvPr>
          <p:cNvSpPr>
            <a:spLocks noGrp="1"/>
          </p:cNvSpPr>
          <p:nvPr>
            <p:ph type="sldNum" sz="quarter" idx="12"/>
          </p:nvPr>
        </p:nvSpPr>
        <p:spPr/>
        <p:txBody>
          <a:bodyPr/>
          <a:lstStyle/>
          <a:p>
            <a:fld id="{95C122ED-C147-4045-89CD-7A79E332317A}" type="slidenum">
              <a:rPr lang="en-US" smtClean="0"/>
              <a:t>‹#›</a:t>
            </a:fld>
            <a:endParaRPr lang="en-US"/>
          </a:p>
        </p:txBody>
      </p:sp>
    </p:spTree>
    <p:extLst>
      <p:ext uri="{BB962C8B-B14F-4D97-AF65-F5344CB8AC3E}">
        <p14:creationId xmlns:p14="http://schemas.microsoft.com/office/powerpoint/2010/main" val="4115568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7978F9-BCFE-4189-A0A8-446CC99C09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351A654-BA2D-4FB0-851C-76683F8C5A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05C5A9-AB1C-4D1E-873E-AB223D54F2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11CC1C-E4D1-4E15-90A8-C95BF9B87F70}" type="datetimeFigureOut">
              <a:rPr lang="en-US" smtClean="0"/>
              <a:t>12/18/2025</a:t>
            </a:fld>
            <a:endParaRPr lang="en-US"/>
          </a:p>
        </p:txBody>
      </p:sp>
      <p:sp>
        <p:nvSpPr>
          <p:cNvPr id="5" name="Footer Placeholder 4">
            <a:extLst>
              <a:ext uri="{FF2B5EF4-FFF2-40B4-BE49-F238E27FC236}">
                <a16:creationId xmlns:a16="http://schemas.microsoft.com/office/drawing/2014/main" id="{1BA9A757-4B5D-46F4-872F-32AE4B103CB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DCCE750-2D47-4D77-93E0-297723B38CD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C122ED-C147-4045-89CD-7A79E332317A}" type="slidenum">
              <a:rPr lang="en-US" smtClean="0"/>
              <a:t>‹#›</a:t>
            </a:fld>
            <a:endParaRPr lang="en-US"/>
          </a:p>
        </p:txBody>
      </p:sp>
      <p:pic>
        <p:nvPicPr>
          <p:cNvPr id="8" name="Picture 7">
            <a:extLst>
              <a:ext uri="{FF2B5EF4-FFF2-40B4-BE49-F238E27FC236}">
                <a16:creationId xmlns:a16="http://schemas.microsoft.com/office/drawing/2014/main" id="{09F43C55-1C86-4C11-A83E-15C62D474657}"/>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6056"/>
            <a:ext cx="12192000" cy="298450"/>
          </a:xfrm>
          <a:prstGeom prst="rect">
            <a:avLst/>
          </a:prstGeom>
        </p:spPr>
      </p:pic>
    </p:spTree>
    <p:extLst>
      <p:ext uri="{BB962C8B-B14F-4D97-AF65-F5344CB8AC3E}">
        <p14:creationId xmlns:p14="http://schemas.microsoft.com/office/powerpoint/2010/main" val="41997955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D9CD8-14E7-4A95-99DB-B02DBD937ACA}"/>
              </a:ext>
            </a:extLst>
          </p:cNvPr>
          <p:cNvSpPr>
            <a:spLocks noGrp="1"/>
          </p:cNvSpPr>
          <p:nvPr>
            <p:ph type="ctrTitle"/>
          </p:nvPr>
        </p:nvSpPr>
        <p:spPr/>
        <p:txBody>
          <a:bodyPr/>
          <a:lstStyle/>
          <a:p>
            <a:r>
              <a:rPr lang="en-US" dirty="0"/>
              <a:t>Abdoul-Raouf Mukaila Alh Shittu</a:t>
            </a:r>
          </a:p>
        </p:txBody>
      </p:sp>
      <p:sp>
        <p:nvSpPr>
          <p:cNvPr id="3" name="Subtitle 2">
            <a:extLst>
              <a:ext uri="{FF2B5EF4-FFF2-40B4-BE49-F238E27FC236}">
                <a16:creationId xmlns:a16="http://schemas.microsoft.com/office/drawing/2014/main" id="{ED535F16-4A24-4AED-8DB2-DAA4BCFBE2CF}"/>
              </a:ext>
            </a:extLst>
          </p:cNvPr>
          <p:cNvSpPr>
            <a:spLocks noGrp="1"/>
          </p:cNvSpPr>
          <p:nvPr>
            <p:ph type="subTitle" idx="1"/>
          </p:nvPr>
        </p:nvSpPr>
        <p:spPr/>
        <p:txBody>
          <a:bodyPr vert="horz" lIns="91440" tIns="45720" rIns="91440" bIns="45720" rtlCol="0" anchor="t">
            <a:normAutofit/>
          </a:bodyPr>
          <a:lstStyle/>
          <a:p>
            <a:r>
              <a:rPr lang="en-US" dirty="0"/>
              <a:t>Web Tech Summer 2025 Final Exams</a:t>
            </a:r>
          </a:p>
        </p:txBody>
      </p:sp>
    </p:spTree>
    <p:extLst>
      <p:ext uri="{BB962C8B-B14F-4D97-AF65-F5344CB8AC3E}">
        <p14:creationId xmlns:p14="http://schemas.microsoft.com/office/powerpoint/2010/main" val="17410953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4F5CAFA-01D7-4C9A-B6E2-3E744EA7D38B}"/>
              </a:ext>
            </a:extLst>
          </p:cNvPr>
          <p:cNvSpPr>
            <a:spLocks noGrp="1"/>
          </p:cNvSpPr>
          <p:nvPr>
            <p:ph type="title"/>
          </p:nvPr>
        </p:nvSpPr>
        <p:spPr>
          <a:xfrm>
            <a:off x="831850" y="1709738"/>
            <a:ext cx="10515600" cy="2852737"/>
          </a:xfrm>
        </p:spPr>
        <p:txBody>
          <a:bodyPr anchor="b">
            <a:normAutofit fontScale="90000"/>
          </a:bodyPr>
          <a:lstStyle/>
          <a:p>
            <a:r>
              <a:rPr lang="en-US" sz="4200" i="1" dirty="0">
                <a:effectLst/>
              </a:rPr>
              <a:t>Abdoul-Raouf is developing a data-powered website to help </a:t>
            </a:r>
            <a:r>
              <a:rPr lang="en-US" sz="4200" b="1" i="1" dirty="0">
                <a:effectLst/>
              </a:rPr>
              <a:t>tailors </a:t>
            </a:r>
            <a:r>
              <a:rPr lang="en-US" sz="4200" i="1" dirty="0">
                <a:effectLst/>
              </a:rPr>
              <a:t>get more visibility for the products they produce</a:t>
            </a:r>
            <a:r>
              <a:rPr lang="en-US" sz="4200" b="1" i="1" dirty="0">
                <a:effectLst/>
              </a:rPr>
              <a:t> </a:t>
            </a:r>
            <a:r>
              <a:rPr lang="en-US" sz="4200" i="1" dirty="0">
                <a:effectLst/>
              </a:rPr>
              <a:t>and</a:t>
            </a:r>
            <a:r>
              <a:rPr lang="en-US" sz="4200" b="1" i="1" dirty="0">
                <a:effectLst/>
              </a:rPr>
              <a:t> for customers </a:t>
            </a:r>
            <a:r>
              <a:rPr lang="en-US" sz="4200" i="1" dirty="0"/>
              <a:t>who are busy with their work or whatever they do </a:t>
            </a:r>
            <a:r>
              <a:rPr lang="en-US" sz="4200" i="1" dirty="0">
                <a:effectLst/>
              </a:rPr>
              <a:t>to</a:t>
            </a:r>
            <a:r>
              <a:rPr lang="en-US" sz="4200" b="1" i="1" dirty="0"/>
              <a:t> </a:t>
            </a:r>
            <a:r>
              <a:rPr lang="en-US" sz="4200" i="1" dirty="0"/>
              <a:t>access those products without moving from where they are.</a:t>
            </a:r>
            <a:br>
              <a:rPr lang="en-US" sz="4200" i="1" dirty="0">
                <a:effectLst/>
              </a:rPr>
            </a:br>
            <a:endParaRPr lang="en-US" sz="4200" dirty="0"/>
          </a:p>
        </p:txBody>
      </p:sp>
    </p:spTree>
    <p:extLst>
      <p:ext uri="{BB962C8B-B14F-4D97-AF65-F5344CB8AC3E}">
        <p14:creationId xmlns:p14="http://schemas.microsoft.com/office/powerpoint/2010/main" val="22387248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123;p26">
            <a:extLst>
              <a:ext uri="{FF2B5EF4-FFF2-40B4-BE49-F238E27FC236}">
                <a16:creationId xmlns:a16="http://schemas.microsoft.com/office/drawing/2014/main" id="{57EC8ECB-684B-4A65-B563-F2A77E7CD0CA}"/>
              </a:ext>
            </a:extLst>
          </p:cNvPr>
          <p:cNvSpPr/>
          <p:nvPr/>
        </p:nvSpPr>
        <p:spPr>
          <a:xfrm>
            <a:off x="5356888" y="4159076"/>
            <a:ext cx="3494100" cy="1946400"/>
          </a:xfrm>
          <a:prstGeom prst="rect">
            <a:avLst/>
          </a:prstGeom>
          <a:no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7" name="Google Shape;124;p26">
            <a:extLst>
              <a:ext uri="{FF2B5EF4-FFF2-40B4-BE49-F238E27FC236}">
                <a16:creationId xmlns:a16="http://schemas.microsoft.com/office/drawing/2014/main" id="{45854F39-C3A4-489F-B694-859EFBCDAE4E}"/>
              </a:ext>
            </a:extLst>
          </p:cNvPr>
          <p:cNvSpPr txBox="1"/>
          <p:nvPr/>
        </p:nvSpPr>
        <p:spPr>
          <a:xfrm>
            <a:off x="5386300" y="4233075"/>
            <a:ext cx="3378900" cy="1561500"/>
          </a:xfrm>
          <a:prstGeom prst="rect">
            <a:avLst/>
          </a:prstGeom>
          <a:solidFill>
            <a:schemeClr val="lt1">
              <a:alpha val="71760"/>
            </a:schemeClr>
          </a:solidFill>
          <a:ln>
            <a:noFill/>
          </a:ln>
        </p:spPr>
        <p:txBody>
          <a:bodyPr spcFirstLastPara="1" wrap="square" lIns="91425" tIns="45700" rIns="91425" bIns="45700" anchor="t" anchorCtr="0">
            <a:noAutofit/>
          </a:bodyPr>
          <a:lstStyle/>
          <a:p>
            <a:pPr lvl="0"/>
            <a:r>
              <a:rPr lang="en-GB" sz="1200" dirty="0"/>
              <a:t>A tailor dashboard showing real-time orders, customer messages, and sales analytics proving increased business success.</a:t>
            </a:r>
            <a:endParaRPr sz="1200" dirty="0">
              <a:solidFill>
                <a:schemeClr val="dk1"/>
              </a:solidFill>
              <a:latin typeface="Calibri"/>
              <a:ea typeface="Calibri"/>
              <a:cs typeface="Calibri"/>
              <a:sym typeface="Calibri"/>
            </a:endParaRPr>
          </a:p>
        </p:txBody>
      </p:sp>
      <p:sp>
        <p:nvSpPr>
          <p:cNvPr id="9" name="Google Shape;125;p26">
            <a:extLst>
              <a:ext uri="{FF2B5EF4-FFF2-40B4-BE49-F238E27FC236}">
                <a16:creationId xmlns:a16="http://schemas.microsoft.com/office/drawing/2014/main" id="{2EB20A92-289A-4F1B-83EA-557EBD087A84}"/>
              </a:ext>
            </a:extLst>
          </p:cNvPr>
          <p:cNvSpPr/>
          <p:nvPr/>
        </p:nvSpPr>
        <p:spPr>
          <a:xfrm>
            <a:off x="613950" y="4297675"/>
            <a:ext cx="2246700" cy="1669200"/>
          </a:xfrm>
          <a:prstGeom prst="rect">
            <a:avLst/>
          </a:prstGeom>
          <a:no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 name="Google Shape;126;p26">
            <a:extLst>
              <a:ext uri="{FF2B5EF4-FFF2-40B4-BE49-F238E27FC236}">
                <a16:creationId xmlns:a16="http://schemas.microsoft.com/office/drawing/2014/main" id="{B6422191-D8D6-4EF8-AD22-99BAE3525359}"/>
              </a:ext>
            </a:extLst>
          </p:cNvPr>
          <p:cNvSpPr/>
          <p:nvPr/>
        </p:nvSpPr>
        <p:spPr>
          <a:xfrm>
            <a:off x="2985425" y="4297575"/>
            <a:ext cx="2246700" cy="1669200"/>
          </a:xfrm>
          <a:prstGeom prst="rect">
            <a:avLst/>
          </a:prstGeom>
          <a:no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 name="Google Shape;127;p26">
            <a:extLst>
              <a:ext uri="{FF2B5EF4-FFF2-40B4-BE49-F238E27FC236}">
                <a16:creationId xmlns:a16="http://schemas.microsoft.com/office/drawing/2014/main" id="{ECAEDEC5-3BA7-4814-897E-199FE3D53B02}"/>
              </a:ext>
            </a:extLst>
          </p:cNvPr>
          <p:cNvSpPr/>
          <p:nvPr/>
        </p:nvSpPr>
        <p:spPr>
          <a:xfrm>
            <a:off x="8875950" y="4297575"/>
            <a:ext cx="2246700" cy="1669200"/>
          </a:xfrm>
          <a:prstGeom prst="rect">
            <a:avLst/>
          </a:prstGeom>
          <a:no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 name="Google Shape;128;p26">
            <a:extLst>
              <a:ext uri="{FF2B5EF4-FFF2-40B4-BE49-F238E27FC236}">
                <a16:creationId xmlns:a16="http://schemas.microsoft.com/office/drawing/2014/main" id="{B0376552-4BDD-431F-A63E-87A711EAE56C}"/>
              </a:ext>
            </a:extLst>
          </p:cNvPr>
          <p:cNvSpPr txBox="1">
            <a:spLocks/>
          </p:cNvSpPr>
          <p:nvPr/>
        </p:nvSpPr>
        <p:spPr>
          <a:xfrm>
            <a:off x="0" y="549275"/>
            <a:ext cx="11360150" cy="852488"/>
          </a:xfrm>
          <a:prstGeom prst="rect">
            <a:avLst/>
          </a:prstGeom>
          <a:noFill/>
          <a:ln>
            <a:noFill/>
          </a:ln>
        </p:spPr>
        <p:txBody>
          <a:bodyPr spcFirstLastPara="1" vert="horz" wrap="square" lIns="91425" tIns="45700" rIns="91425" bIns="45700"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dk1"/>
              </a:buClr>
              <a:buSzPts val="4400"/>
              <a:buFont typeface="Calibri"/>
              <a:buNone/>
            </a:pPr>
            <a:r>
              <a:rPr lang="en-US" dirty="0">
                <a:solidFill>
                  <a:schemeClr val="dk1"/>
                </a:solidFill>
                <a:latin typeface="Calibri"/>
                <a:ea typeface="Calibri"/>
                <a:cs typeface="Calibri"/>
                <a:sym typeface="Calibri"/>
              </a:rPr>
              <a:t>Project Title</a:t>
            </a:r>
          </a:p>
        </p:txBody>
      </p:sp>
      <p:sp>
        <p:nvSpPr>
          <p:cNvPr id="17" name="Google Shape;129;p26">
            <a:extLst>
              <a:ext uri="{FF2B5EF4-FFF2-40B4-BE49-F238E27FC236}">
                <a16:creationId xmlns:a16="http://schemas.microsoft.com/office/drawing/2014/main" id="{70D74D4C-F466-4D68-B611-FB3F56811959}"/>
              </a:ext>
            </a:extLst>
          </p:cNvPr>
          <p:cNvSpPr/>
          <p:nvPr/>
        </p:nvSpPr>
        <p:spPr>
          <a:xfrm>
            <a:off x="613950" y="1776550"/>
            <a:ext cx="2246700" cy="2351400"/>
          </a:xfrm>
          <a:prstGeom prst="roundRect">
            <a:avLst>
              <a:gd name="adj" fmla="val 16667"/>
            </a:avLst>
          </a:prstGeom>
          <a:noFill/>
          <a:ln w="28575"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ddd</a:t>
            </a:r>
            <a:endParaRPr sz="1800" b="0" i="0" u="none" strike="noStrike" cap="none">
              <a:solidFill>
                <a:schemeClr val="lt1"/>
              </a:solidFill>
              <a:latin typeface="Calibri"/>
              <a:ea typeface="Calibri"/>
              <a:cs typeface="Calibri"/>
              <a:sym typeface="Calibri"/>
            </a:endParaRPr>
          </a:p>
        </p:txBody>
      </p:sp>
      <p:sp>
        <p:nvSpPr>
          <p:cNvPr id="19" name="Google Shape;130;p26">
            <a:extLst>
              <a:ext uri="{FF2B5EF4-FFF2-40B4-BE49-F238E27FC236}">
                <a16:creationId xmlns:a16="http://schemas.microsoft.com/office/drawing/2014/main" id="{89D1F58D-E1F6-4C92-A957-8FDF219B4EC6}"/>
              </a:ext>
            </a:extLst>
          </p:cNvPr>
          <p:cNvSpPr/>
          <p:nvPr/>
        </p:nvSpPr>
        <p:spPr>
          <a:xfrm>
            <a:off x="5342700" y="836025"/>
            <a:ext cx="3378900" cy="3184500"/>
          </a:xfrm>
          <a:prstGeom prst="roundRect">
            <a:avLst>
              <a:gd name="adj" fmla="val 16667"/>
            </a:avLst>
          </a:prstGeom>
          <a:noFill/>
          <a:ln w="28575"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1" name="Google Shape;131;p26">
            <a:extLst>
              <a:ext uri="{FF2B5EF4-FFF2-40B4-BE49-F238E27FC236}">
                <a16:creationId xmlns:a16="http://schemas.microsoft.com/office/drawing/2014/main" id="{72D1F283-2A04-4B78-8A09-3A40D4BBD068}"/>
              </a:ext>
            </a:extLst>
          </p:cNvPr>
          <p:cNvSpPr/>
          <p:nvPr/>
        </p:nvSpPr>
        <p:spPr>
          <a:xfrm>
            <a:off x="2978325" y="1776550"/>
            <a:ext cx="2246700" cy="2351400"/>
          </a:xfrm>
          <a:prstGeom prst="roundRect">
            <a:avLst>
              <a:gd name="adj" fmla="val 16667"/>
            </a:avLst>
          </a:prstGeom>
          <a:noFill/>
          <a:ln w="28575"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3" name="Google Shape;132;p26">
            <a:extLst>
              <a:ext uri="{FF2B5EF4-FFF2-40B4-BE49-F238E27FC236}">
                <a16:creationId xmlns:a16="http://schemas.microsoft.com/office/drawing/2014/main" id="{362BD806-9FF3-4E4F-99B8-E69451D993A2}"/>
              </a:ext>
            </a:extLst>
          </p:cNvPr>
          <p:cNvSpPr/>
          <p:nvPr/>
        </p:nvSpPr>
        <p:spPr>
          <a:xfrm>
            <a:off x="8839280" y="1663433"/>
            <a:ext cx="2317200" cy="2372400"/>
          </a:xfrm>
          <a:prstGeom prst="roundRect">
            <a:avLst>
              <a:gd name="adj" fmla="val 16667"/>
            </a:avLst>
          </a:prstGeom>
          <a:noFill/>
          <a:ln w="28575"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7" name="Google Shape;134;p26">
            <a:extLst>
              <a:ext uri="{FF2B5EF4-FFF2-40B4-BE49-F238E27FC236}">
                <a16:creationId xmlns:a16="http://schemas.microsoft.com/office/drawing/2014/main" id="{7FCFFFAA-E5F2-46D8-8DAA-857512D7D290}"/>
              </a:ext>
            </a:extLst>
          </p:cNvPr>
          <p:cNvSpPr txBox="1"/>
          <p:nvPr/>
        </p:nvSpPr>
        <p:spPr>
          <a:xfrm>
            <a:off x="3015075" y="4297675"/>
            <a:ext cx="2144100" cy="1669200"/>
          </a:xfrm>
          <a:prstGeom prst="rect">
            <a:avLst/>
          </a:prstGeom>
          <a:noFill/>
          <a:ln>
            <a:noFill/>
          </a:ln>
        </p:spPr>
        <p:txBody>
          <a:bodyPr spcFirstLastPara="1" wrap="square" lIns="91425" tIns="45700" rIns="91425" bIns="45700" anchor="t" anchorCtr="0">
            <a:noAutofit/>
          </a:bodyPr>
          <a:lstStyle/>
          <a:p>
            <a:pPr lvl="0"/>
            <a:r>
              <a:rPr lang="en-GB" sz="1200" dirty="0"/>
              <a:t>Customers can't find custom-made clothing and tailors lack platforms to showcase their skills globally.</a:t>
            </a:r>
            <a:endParaRPr sz="1200" dirty="0">
              <a:solidFill>
                <a:schemeClr val="dk1"/>
              </a:solidFill>
              <a:latin typeface="Calibri"/>
              <a:ea typeface="Calibri"/>
              <a:cs typeface="Calibri"/>
              <a:sym typeface="Calibri"/>
            </a:endParaRPr>
          </a:p>
        </p:txBody>
      </p:sp>
      <p:sp>
        <p:nvSpPr>
          <p:cNvPr id="29" name="Google Shape;135;p26">
            <a:extLst>
              <a:ext uri="{FF2B5EF4-FFF2-40B4-BE49-F238E27FC236}">
                <a16:creationId xmlns:a16="http://schemas.microsoft.com/office/drawing/2014/main" id="{663C807B-3501-4A1A-B45B-BCE89ED53D86}"/>
              </a:ext>
            </a:extLst>
          </p:cNvPr>
          <p:cNvSpPr txBox="1"/>
          <p:nvPr/>
        </p:nvSpPr>
        <p:spPr>
          <a:xfrm>
            <a:off x="8875975" y="4530330"/>
            <a:ext cx="2143800" cy="1259100"/>
          </a:xfrm>
          <a:prstGeom prst="rect">
            <a:avLst/>
          </a:prstGeom>
          <a:noFill/>
          <a:ln>
            <a:noFill/>
          </a:ln>
        </p:spPr>
        <p:txBody>
          <a:bodyPr spcFirstLastPara="1" wrap="square" lIns="91425" tIns="45700" rIns="91425" bIns="45700" anchor="t" anchorCtr="0">
            <a:noAutofit/>
          </a:bodyPr>
          <a:lstStyle/>
          <a:p>
            <a:pPr lvl="0"/>
            <a:r>
              <a:rPr lang="en-GB" sz="1200" dirty="0"/>
              <a:t>Users get access to unique custom clothing while tailors gain global customers and steady income.</a:t>
            </a:r>
            <a:endParaRPr sz="1200" i="1" dirty="0">
              <a:solidFill>
                <a:schemeClr val="dk1"/>
              </a:solidFill>
              <a:latin typeface="Calibri"/>
              <a:ea typeface="Calibri"/>
              <a:cs typeface="Calibri"/>
              <a:sym typeface="Calibri"/>
            </a:endParaRPr>
          </a:p>
        </p:txBody>
      </p:sp>
      <p:pic>
        <p:nvPicPr>
          <p:cNvPr id="37" name="Google Shape;139;p26">
            <a:extLst>
              <a:ext uri="{FF2B5EF4-FFF2-40B4-BE49-F238E27FC236}">
                <a16:creationId xmlns:a16="http://schemas.microsoft.com/office/drawing/2014/main" id="{B9D37766-E66F-4991-B723-26BE9C9BC1A3}"/>
              </a:ext>
            </a:extLst>
          </p:cNvPr>
          <p:cNvPicPr preferRelativeResize="0"/>
          <p:nvPr/>
        </p:nvPicPr>
        <p:blipFill rotWithShape="1">
          <a:blip r:embed="rId2">
            <a:alphaModFix/>
          </a:blip>
          <a:srcRect l="20430" t="5231" r="20211" b="22706"/>
          <a:stretch/>
        </p:blipFill>
        <p:spPr>
          <a:xfrm>
            <a:off x="6160925" y="972725"/>
            <a:ext cx="1846575" cy="2988902"/>
          </a:xfrm>
          <a:prstGeom prst="rect">
            <a:avLst/>
          </a:prstGeom>
          <a:noFill/>
          <a:ln>
            <a:noFill/>
          </a:ln>
        </p:spPr>
      </p:pic>
      <p:sp>
        <p:nvSpPr>
          <p:cNvPr id="8" name="Rectangle 5">
            <a:extLst>
              <a:ext uri="{FF2B5EF4-FFF2-40B4-BE49-F238E27FC236}">
                <a16:creationId xmlns:a16="http://schemas.microsoft.com/office/drawing/2014/main" id="{4044F3FC-F5D4-45D8-1D08-47E9940F597E}"/>
              </a:ext>
            </a:extLst>
          </p:cNvPr>
          <p:cNvSpPr>
            <a:spLocks noChangeArrowheads="1"/>
          </p:cNvSpPr>
          <p:nvPr/>
        </p:nvSpPr>
        <p:spPr bwMode="auto">
          <a:xfrm>
            <a:off x="542054" y="4655121"/>
            <a:ext cx="2473021"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FontTx/>
              <a:buChar char="•"/>
            </a:pPr>
            <a:r>
              <a:rPr lang="en-GB" sz="1400" dirty="0"/>
              <a:t>Fashion-conscious customers seeking unique clothing and independent tailors wanting to reach global markets.</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pic>
        <p:nvPicPr>
          <p:cNvPr id="12" name="Picture 11">
            <a:extLst>
              <a:ext uri="{FF2B5EF4-FFF2-40B4-BE49-F238E27FC236}">
                <a16:creationId xmlns:a16="http://schemas.microsoft.com/office/drawing/2014/main" id="{6C15D6E1-FA7E-A13E-1792-3D423CBE796F}"/>
              </a:ext>
            </a:extLst>
          </p:cNvPr>
          <p:cNvPicPr>
            <a:picLocks noChangeAspect="1"/>
          </p:cNvPicPr>
          <p:nvPr/>
        </p:nvPicPr>
        <p:blipFill>
          <a:blip r:embed="rId3"/>
          <a:stretch>
            <a:fillRect/>
          </a:stretch>
        </p:blipFill>
        <p:spPr>
          <a:xfrm>
            <a:off x="759036" y="1418902"/>
            <a:ext cx="3625180" cy="2521026"/>
          </a:xfrm>
          <a:prstGeom prst="rect">
            <a:avLst/>
          </a:prstGeom>
        </p:spPr>
      </p:pic>
      <p:pic>
        <p:nvPicPr>
          <p:cNvPr id="16" name="Picture 15">
            <a:extLst>
              <a:ext uri="{FF2B5EF4-FFF2-40B4-BE49-F238E27FC236}">
                <a16:creationId xmlns:a16="http://schemas.microsoft.com/office/drawing/2014/main" id="{5F80AFAF-5894-191C-2EAF-4B6608F57DE0}"/>
              </a:ext>
            </a:extLst>
          </p:cNvPr>
          <p:cNvPicPr>
            <a:picLocks noChangeAspect="1"/>
          </p:cNvPicPr>
          <p:nvPr/>
        </p:nvPicPr>
        <p:blipFill>
          <a:blip r:embed="rId4"/>
          <a:stretch>
            <a:fillRect/>
          </a:stretch>
        </p:blipFill>
        <p:spPr>
          <a:xfrm>
            <a:off x="4749282" y="746390"/>
            <a:ext cx="6828768" cy="3327874"/>
          </a:xfrm>
          <a:prstGeom prst="rect">
            <a:avLst/>
          </a:prstGeom>
        </p:spPr>
      </p:pic>
    </p:spTree>
    <p:extLst>
      <p:ext uri="{BB962C8B-B14F-4D97-AF65-F5344CB8AC3E}">
        <p14:creationId xmlns:p14="http://schemas.microsoft.com/office/powerpoint/2010/main" val="3079242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4AAEF-FFFC-4D02-8E01-39733404A943}"/>
              </a:ext>
            </a:extLst>
          </p:cNvPr>
          <p:cNvSpPr>
            <a:spLocks noGrp="1"/>
          </p:cNvSpPr>
          <p:nvPr>
            <p:ph type="title"/>
          </p:nvPr>
        </p:nvSpPr>
        <p:spPr/>
        <p:txBody>
          <a:bodyPr/>
          <a:lstStyle/>
          <a:p>
            <a:r>
              <a:rPr lang="en-US" dirty="0"/>
              <a:t>User / Customer</a:t>
            </a:r>
          </a:p>
        </p:txBody>
      </p:sp>
      <p:sp>
        <p:nvSpPr>
          <p:cNvPr id="3" name="Content Placeholder 2">
            <a:extLst>
              <a:ext uri="{FF2B5EF4-FFF2-40B4-BE49-F238E27FC236}">
                <a16:creationId xmlns:a16="http://schemas.microsoft.com/office/drawing/2014/main" id="{95C42002-6CD1-4A60-B873-4164CDE4C052}"/>
              </a:ext>
            </a:extLst>
          </p:cNvPr>
          <p:cNvSpPr>
            <a:spLocks noGrp="1"/>
          </p:cNvSpPr>
          <p:nvPr>
            <p:ph idx="1"/>
          </p:nvPr>
        </p:nvSpPr>
        <p:spPr/>
        <p:txBody>
          <a:bodyPr/>
          <a:lstStyle/>
          <a:p>
            <a:r>
              <a:rPr lang="en-GB" sz="1800" dirty="0"/>
              <a:t>A global online marketplace connecting independent tailors with customers seeking custom-made traditional and modern clothing. </a:t>
            </a:r>
            <a:r>
              <a:rPr lang="en-GB" sz="1800" b="1" dirty="0"/>
              <a:t>Mission:</a:t>
            </a:r>
            <a:r>
              <a:rPr lang="en-GB" sz="1800" dirty="0"/>
              <a:t> To democratize bespoke fashion by providing traditional artisans with modern e-commerce tools while giving style-conscious consumers access to unique, high-quality, personalized garments.</a:t>
            </a:r>
            <a:endParaRPr lang="en-US" dirty="0"/>
          </a:p>
        </p:txBody>
      </p:sp>
    </p:spTree>
    <p:extLst>
      <p:ext uri="{BB962C8B-B14F-4D97-AF65-F5344CB8AC3E}">
        <p14:creationId xmlns:p14="http://schemas.microsoft.com/office/powerpoint/2010/main" val="21134976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730D1-743D-4000-9929-9878F282E703}"/>
              </a:ext>
            </a:extLst>
          </p:cNvPr>
          <p:cNvSpPr>
            <a:spLocks noGrp="1"/>
          </p:cNvSpPr>
          <p:nvPr>
            <p:ph type="title"/>
          </p:nvPr>
        </p:nvSpPr>
        <p:spPr/>
        <p:txBody>
          <a:bodyPr/>
          <a:lstStyle/>
          <a:p>
            <a:r>
              <a:rPr lang="en-US" dirty="0"/>
              <a:t>Main Functions of the Website</a:t>
            </a:r>
          </a:p>
        </p:txBody>
      </p:sp>
      <p:sp>
        <p:nvSpPr>
          <p:cNvPr id="3" name="Content Placeholder 2">
            <a:extLst>
              <a:ext uri="{FF2B5EF4-FFF2-40B4-BE49-F238E27FC236}">
                <a16:creationId xmlns:a16="http://schemas.microsoft.com/office/drawing/2014/main" id="{9F74E113-BC91-4D17-8467-AD7ACB6061A4}"/>
              </a:ext>
            </a:extLst>
          </p:cNvPr>
          <p:cNvSpPr>
            <a:spLocks noGrp="1"/>
          </p:cNvSpPr>
          <p:nvPr>
            <p:ph idx="1"/>
          </p:nvPr>
        </p:nvSpPr>
        <p:spPr/>
        <p:txBody>
          <a:bodyPr>
            <a:normAutofit fontScale="92500" lnSpcReduction="10000"/>
          </a:bodyPr>
          <a:lstStyle/>
          <a:p>
            <a:r>
              <a:rPr lang="en-GB" dirty="0"/>
              <a:t>The platform follows a standard 3-tier architecture to ensure scalability and security.</a:t>
            </a:r>
          </a:p>
          <a:p>
            <a:r>
              <a:rPr lang="en-GB" b="1" dirty="0"/>
              <a:t>Presentation Tier (Frontend):</a:t>
            </a:r>
            <a:r>
              <a:rPr lang="en-GB" dirty="0"/>
              <a:t> * </a:t>
            </a:r>
            <a:r>
              <a:rPr lang="en-GB" b="1" dirty="0"/>
              <a:t>Technologies:</a:t>
            </a:r>
            <a:r>
              <a:rPr lang="en-GB" dirty="0"/>
              <a:t> HTML5, CSS3 (Bootstrap 5), and JavaScript.</a:t>
            </a:r>
          </a:p>
          <a:p>
            <a:pPr lvl="1"/>
            <a:r>
              <a:rPr lang="en-GB" b="1" dirty="0"/>
              <a:t>Why:</a:t>
            </a:r>
            <a:r>
              <a:rPr lang="en-GB" dirty="0"/>
              <a:t> Provides a responsive, user-friendly interface for customers and tailors across different devices.</a:t>
            </a:r>
          </a:p>
          <a:p>
            <a:r>
              <a:rPr lang="en-GB" b="1" dirty="0"/>
              <a:t>Application Tier (Logic):</a:t>
            </a:r>
            <a:r>
              <a:rPr lang="en-GB" dirty="0"/>
              <a:t> * </a:t>
            </a:r>
            <a:r>
              <a:rPr lang="en-GB" b="1" dirty="0"/>
              <a:t>Technologies:</a:t>
            </a:r>
            <a:r>
              <a:rPr lang="en-GB" dirty="0"/>
              <a:t> PHP 8.x.</a:t>
            </a:r>
          </a:p>
          <a:p>
            <a:pPr lvl="1"/>
            <a:r>
              <a:rPr lang="en-GB" b="1" dirty="0"/>
              <a:t>Why:</a:t>
            </a:r>
            <a:r>
              <a:rPr lang="en-GB" dirty="0"/>
              <a:t> Handles server-side processing, user authentication, and business logic (like calculating order totals or processing measurement data).</a:t>
            </a:r>
          </a:p>
          <a:p>
            <a:r>
              <a:rPr lang="en-GB" b="1" dirty="0"/>
              <a:t>Data Tier (Database):</a:t>
            </a:r>
            <a:r>
              <a:rPr lang="en-GB" dirty="0"/>
              <a:t> * </a:t>
            </a:r>
            <a:r>
              <a:rPr lang="en-GB" b="1" dirty="0"/>
              <a:t>Technologies:</a:t>
            </a:r>
            <a:r>
              <a:rPr lang="en-GB" dirty="0"/>
              <a:t> MySQL / MariaDB.</a:t>
            </a:r>
          </a:p>
          <a:p>
            <a:pPr lvl="1"/>
            <a:r>
              <a:rPr lang="en-GB" b="1" dirty="0"/>
              <a:t>Why:</a:t>
            </a:r>
            <a:r>
              <a:rPr lang="en-GB" dirty="0"/>
              <a:t> A relational database is ideal for managing complex relationships between users, orders, and varied measurement profiles.</a:t>
            </a:r>
          </a:p>
        </p:txBody>
      </p:sp>
    </p:spTree>
    <p:extLst>
      <p:ext uri="{BB962C8B-B14F-4D97-AF65-F5344CB8AC3E}">
        <p14:creationId xmlns:p14="http://schemas.microsoft.com/office/powerpoint/2010/main" val="35373791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0FA18-7093-430E-BD23-BCEBC00BC538}"/>
              </a:ext>
            </a:extLst>
          </p:cNvPr>
          <p:cNvSpPr>
            <a:spLocks noGrp="1"/>
          </p:cNvSpPr>
          <p:nvPr>
            <p:ph type="title"/>
          </p:nvPr>
        </p:nvSpPr>
        <p:spPr/>
        <p:txBody>
          <a:bodyPr/>
          <a:lstStyle/>
          <a:p>
            <a:r>
              <a:rPr lang="en-US" dirty="0"/>
              <a:t>Architecture</a:t>
            </a:r>
          </a:p>
        </p:txBody>
      </p:sp>
      <p:sp>
        <p:nvSpPr>
          <p:cNvPr id="4" name="Rectangle 1">
            <a:extLst>
              <a:ext uri="{FF2B5EF4-FFF2-40B4-BE49-F238E27FC236}">
                <a16:creationId xmlns:a16="http://schemas.microsoft.com/office/drawing/2014/main" id="{9423C459-8E7D-C2AF-5E42-A8EF59C401CF}"/>
              </a:ext>
            </a:extLst>
          </p:cNvPr>
          <p:cNvSpPr>
            <a:spLocks noChangeArrowheads="1"/>
          </p:cNvSpPr>
          <p:nvPr/>
        </p:nvSpPr>
        <p:spPr bwMode="auto">
          <a:xfrm>
            <a:off x="838200" y="1982079"/>
            <a:ext cx="10515600"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rial" panose="020B0604020202020204" pitchFamily="34" charset="0"/>
              </a:rPr>
              <a:t>Digital Measurement Vault:</a:t>
            </a:r>
            <a:r>
              <a:rPr kumimoji="0" lang="en-US" altLang="en-US" sz="2200" b="0" i="0" u="none" strike="noStrike" cap="none" normalizeH="0" baseline="0" dirty="0">
                <a:ln>
                  <a:noFill/>
                </a:ln>
                <a:solidFill>
                  <a:schemeClr val="tx1"/>
                </a:solidFill>
                <a:effectLst/>
                <a:latin typeface="Arial" panose="020B0604020202020204" pitchFamily="34" charset="0"/>
              </a:rPr>
              <a:t> A standardized system for customers to save and share body metrics, ensuring a perfect fit regardless of geographic distance.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rial" panose="020B0604020202020204" pitchFamily="34" charset="0"/>
              </a:rPr>
              <a:t>Artisan Storefront &amp; Gallery:</a:t>
            </a:r>
            <a:r>
              <a:rPr kumimoji="0" lang="en-US" altLang="en-US" sz="2200" b="0" i="0" u="none" strike="noStrike" cap="none" normalizeH="0" baseline="0" dirty="0">
                <a:ln>
                  <a:noFill/>
                </a:ln>
                <a:solidFill>
                  <a:schemeClr val="tx1"/>
                </a:solidFill>
                <a:effectLst/>
                <a:latin typeface="Arial" panose="020B0604020202020204" pitchFamily="34" charset="0"/>
              </a:rPr>
              <a:t> A dedicated space for tailors to showcase their unique traditional and modern designs to a global audience.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rial" panose="020B0604020202020204" pitchFamily="34" charset="0"/>
              </a:rPr>
              <a:t>Secure Order &amp; Communication Hub:</a:t>
            </a:r>
            <a:r>
              <a:rPr kumimoji="0" lang="en-US" altLang="en-US" sz="2200" b="0" i="0" u="none" strike="noStrike" cap="none" normalizeH="0" baseline="0" dirty="0">
                <a:ln>
                  <a:noFill/>
                </a:ln>
                <a:solidFill>
                  <a:schemeClr val="tx1"/>
                </a:solidFill>
                <a:effectLst/>
                <a:latin typeface="Arial" panose="020B0604020202020204" pitchFamily="34" charset="0"/>
              </a:rPr>
              <a:t> A centralized system for real-time messaging and order tracking to bridge the communication gap between buyer and artisan.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rial" panose="020B0604020202020204" pitchFamily="34" charset="0"/>
              </a:rPr>
              <a:t>Global Review &amp; Rating System:</a:t>
            </a:r>
            <a:r>
              <a:rPr kumimoji="0" lang="en-US" altLang="en-US" sz="2200" b="0" i="0" u="none" strike="noStrike" cap="none" normalizeH="0" baseline="0" dirty="0">
                <a:ln>
                  <a:noFill/>
                </a:ln>
                <a:solidFill>
                  <a:schemeClr val="tx1"/>
                </a:solidFill>
                <a:effectLst/>
                <a:latin typeface="Arial" panose="020B0604020202020204" pitchFamily="34" charset="0"/>
              </a:rPr>
              <a:t> A quality assurance mechanism that builds trust in traditional craftsmanship through modern social proof.</a:t>
            </a:r>
          </a:p>
        </p:txBody>
      </p:sp>
    </p:spTree>
    <p:extLst>
      <p:ext uri="{BB962C8B-B14F-4D97-AF65-F5344CB8AC3E}">
        <p14:creationId xmlns:p14="http://schemas.microsoft.com/office/powerpoint/2010/main" val="2127009124"/>
      </p:ext>
    </p:extLst>
  </p:cSld>
  <p:clrMapOvr>
    <a:masterClrMapping/>
  </p:clrMapOvr>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923D41"/>
      </a:dk2>
      <a:lt2>
        <a:srgbClr val="AAC3EC"/>
      </a:lt2>
      <a:accent1>
        <a:srgbClr val="4472C4"/>
      </a:accent1>
      <a:accent2>
        <a:srgbClr val="C56728"/>
      </a:accent2>
      <a:accent3>
        <a:srgbClr val="A5A5A5"/>
      </a:accent3>
      <a:accent4>
        <a:srgbClr val="FFC000"/>
      </a:accent4>
      <a:accent5>
        <a:srgbClr val="5B9BD5"/>
      </a:accent5>
      <a:accent6>
        <a:srgbClr val="C09B74"/>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3" id="{43679034-79EA-4C15-9A71-1EF1E1074EAF}" vid="{7FD254AA-BBEA-4868-8697-6021C48FEDDC}"/>
    </a:ext>
  </a:extLst>
</a:theme>
</file>

<file path=docProps/app.xml><?xml version="1.0" encoding="utf-8"?>
<Properties xmlns="http://schemas.openxmlformats.org/officeDocument/2006/extended-properties" xmlns:vt="http://schemas.openxmlformats.org/officeDocument/2006/docPropsVTypes">
  <TotalTime>1087</TotalTime>
  <Words>379</Words>
  <Application>Microsoft Office PowerPoint</Application>
  <PresentationFormat>Widescreen</PresentationFormat>
  <Paragraphs>24</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Abdoul-Raouf Mukaila Alh Shittu</vt:lpstr>
      <vt:lpstr>Abdoul-Raouf is developing a data-powered website to help tailors get more visibility for the products they produce and for customers who are busy with their work or whatever they do to access those products without moving from where they are. </vt:lpstr>
      <vt:lpstr>PowerPoint Presentation</vt:lpstr>
      <vt:lpstr>User / Customer</vt:lpstr>
      <vt:lpstr>Main Functions of the Website</vt:lpstr>
      <vt:lpstr>Architecture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&lt;Letter&gt;</dc:title>
  <dc:creator>Todd Warren</dc:creator>
  <cp:lastModifiedBy>Abdoul-Raouf Mukaila Alh Shittu</cp:lastModifiedBy>
  <cp:revision>21</cp:revision>
  <dcterms:created xsi:type="dcterms:W3CDTF">2020-09-23T20:07:55Z</dcterms:created>
  <dcterms:modified xsi:type="dcterms:W3CDTF">2025-12-18T23:51:39Z</dcterms:modified>
</cp:coreProperties>
</file>